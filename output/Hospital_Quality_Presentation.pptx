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Quality and Insurance Base Rates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healthcare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Determine whether Blue Distinction status and CMS Overall Hospital Star Ratings are associated with higher hospital base rates for inpatient spine surgery DRGs.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Matching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in base-rate dataset: 346</a:t>
            </a:r>
          </a:p>
          <a:p>
            <a:r>
              <a:t>CMS source hospitals: 5424</a:t>
            </a:r>
          </a:p>
          <a:p>
            <a:r>
              <a:t>CMS matches by CCN: 136</a:t>
            </a:r>
          </a:p>
          <a:p>
            <a:r>
              <a:t>CMS fallback name matches: 90</a:t>
            </a:r>
          </a:p>
          <a:p>
            <a:r>
              <a:t>CMS ratings available: 156</a:t>
            </a:r>
          </a:p>
          <a:p>
            <a:r>
              <a:t>Blue Distinction accepted: 30</a:t>
            </a:r>
          </a:p>
          <a:p>
            <a:r>
              <a:t>Blue Distinction manual review: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Statistical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Hospital-level Welch t-test: estimate=2.8e+03, p=0.0511</a:t>
            </a:r>
          </a:p>
          <a:p>
            <a:r>
              <a:t>Mann-Whitney U test: estimate=2.86e+03, p=0.029</a:t>
            </a:r>
          </a:p>
          <a:p>
            <a:r>
              <a:t>DRG-adjusted log-linear regression: estimate=21.2, p=0.0354</a:t>
            </a:r>
          </a:p>
          <a:p>
            <a:r>
              <a:t>CMS Spearman correlation: estimate=0.24, p=0.00392</a:t>
            </a:r>
          </a:p>
          <a:p>
            <a:r>
              <a:t>CMS log-linear regression: estimate=15.9, p=0.000107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Base Rate Histogram</a:t>
            </a:r>
          </a:p>
        </p:txBody>
      </p:sp>
      <p:pic>
        <p:nvPicPr>
          <p:cNvPr id="3" name="Picture 2" descr="average_base_rat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713232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 Distinction Boxplot</a:t>
            </a:r>
          </a:p>
        </p:txBody>
      </p:sp>
      <p:pic>
        <p:nvPicPr>
          <p:cNvPr id="3" name="Picture 2" descr="blue_distincti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7132320" cy="5094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Cms Rating Scatterplot</a:t>
            </a:r>
          </a:p>
        </p:txBody>
      </p:sp>
      <p:pic>
        <p:nvPicPr>
          <p:cNvPr id="3" name="Picture 2" descr="cms_rating_scatte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7132320" cy="5094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